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37599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9DBA-1709-7501-F391-ED0C1EAFD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4AD44-E8F5-76DE-D31F-93291CF3A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658BE-F95C-A90F-423A-1A932BB4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9AA5E-9B4F-880A-CB99-6DA0C27C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E9E25-8F47-5BE7-00FB-6CFDA5E7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3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60E9-46BF-28C1-1EAD-02F2E24E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E78F-A735-93BD-8333-0E1DABF50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99DFC-FBCB-23F4-F927-12FD787C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9E70-28C4-C25E-2C64-E8B9232F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1DF2-3A5F-E9E7-4BD4-627E902C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0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BF70-E3E3-0A5A-92BD-4F226F34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E672F-5CFA-3C52-D1B2-8CE515593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86D2C-A8A8-00F1-EF6E-644FE5F0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DE726-B98E-A59E-AF81-77DBFC23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0D5D-580D-9D3B-AA1B-942C5C21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9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A7F9-65E1-0187-F81D-DB18F2FA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C60DD-A872-229A-B551-61EAEEE31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0CC62-75ED-5808-1C69-322A53A82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58816-C6E1-7EEE-2974-25A662E7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933D0-C1C7-A392-EF57-C4C62F15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F0E29-3177-94C7-D623-5CF2799D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0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4EBB-4E13-FA63-394C-C8291028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4EC61-B3E2-3C8B-32FB-BF893050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577E3-75EB-726D-9F75-FA81CE2AB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CEE97-0A4A-32B9-5D1F-AB16D5C43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D6571-A158-CA6C-4785-990A174D2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E54B6-BA8B-275F-FFC1-5B66EDEF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24AC64-AE99-8877-EAE8-AF5BEDAF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76447-5CAB-2D01-346C-CED2BA9C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7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1F77-D399-E2C9-3EBB-8060FD78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2D526-F49D-2E73-C79C-6C702106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42E16-9204-F26E-2031-A6ACF975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BBBE9-FCFC-F131-870A-A024140D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FDB9E-4137-5940-DD32-6216A155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FA31F-1FA7-D6F0-727A-8CD3E24B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DF672-B31C-63D6-5FC8-ECB737F6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8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0797-D8CA-22E3-8488-662361C0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429C5-C5AE-A88A-5F1C-4BF0A8575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6E093-0B83-1851-BC29-7DBC1454F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AB994-9AE3-FD31-9937-BCFFD47B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317E9-EE4F-F862-34C6-6FFFD421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2DA24-F1E2-1D09-102E-DA5B8979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9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B1EB-6C6A-B771-A013-4CF18821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3B71E-6FAB-5AAF-F365-836C3CD31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1BB74-C879-A0D7-23C6-6A25C410B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A682A-8DCB-955C-F053-EB991E88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E536C-7909-E097-CEC6-862F1B1F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DD8B3-8F56-61EE-F964-2A9C9D4B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7D1E-5733-3974-4102-CD2FB5C0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5D3D5-329E-69F8-F799-4A9B8B1DC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18F4F-B445-3CAD-E3EB-62975189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11C02-935D-45FA-C910-EB86810B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7FCE6-FF4C-9205-CA4D-DDFACC3A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8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FD3F9-4F9E-B3FE-BD57-BAED24829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FD87F-E41E-94DC-53DF-F2DB252B2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FB091-A30D-D127-44D6-6B4021E8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C8963-9AA8-2126-F2D3-DA8F5452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B4E68-ACC8-C808-4592-9936FF17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F4C9B-F907-EF01-6199-DA6C67A8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1270C-C351-7751-CA06-43B759E88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771C8-7009-7983-6978-171807C09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DAD95-2388-414A-8BA3-4CACCB81FCBD}" type="datetimeFigureOut">
              <a:rPr lang="en-US" smtClean="0"/>
              <a:t>12/3/23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2E251-5982-D07D-4197-A347D1A38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9AAD8-7F92-7050-0D22-50A9AC198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609EA-8A3F-0B47-960E-9B4E64F85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1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6A87-D90B-13D4-D4FB-7D44293C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85" y="28952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PMF contact energies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FE39-5F0D-65A1-FB91-BE0E63A27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778169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Based on the radial distribution/pair correlation function </a:t>
            </a:r>
            <a:r>
              <a:rPr lang="en-US" i="1" dirty="0"/>
              <a:t>g(r).</a:t>
            </a:r>
          </a:p>
          <a:p>
            <a:pPr lvl="1"/>
            <a:r>
              <a:rPr lang="en-US" dirty="0"/>
              <a:t>Measures density/aggregation as a function of distance, between two types of atoms/molecules/amino acids…whatever you want.</a:t>
            </a:r>
          </a:p>
          <a:p>
            <a:pPr lvl="1"/>
            <a:r>
              <a:rPr lang="en-US" dirty="0"/>
              <a:t>If greater than 1, there is a greater than random chance that the interaction happens.</a:t>
            </a:r>
          </a:p>
          <a:p>
            <a:pPr lvl="1"/>
            <a:r>
              <a:rPr lang="en-US" dirty="0"/>
              <a:t>Integrating the curve gives you “coordination numbers”- how many molecules are at a given distance – density </a:t>
            </a:r>
          </a:p>
          <a:p>
            <a:pPr lvl="1"/>
            <a:r>
              <a:rPr lang="en-US" dirty="0"/>
              <a:t>On average, how many amino acids of type B surround type A?</a:t>
            </a:r>
          </a:p>
          <a:p>
            <a:pPr lvl="1"/>
            <a:r>
              <a:rPr lang="en-US" dirty="0"/>
              <a:t>The solution basically leads back to every thermodynamic identity (free energy, potential energy, entropy, etc.)</a:t>
            </a:r>
            <a:r>
              <a:rPr lang="en-US" i="1" dirty="0"/>
              <a:t>	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1D39AB-C732-15CC-0DA5-C7C255987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696" y="477212"/>
            <a:ext cx="4414606" cy="309961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B6C5FE-CF2D-EE47-5026-53C252BFC27C}"/>
              </a:ext>
            </a:extLst>
          </p:cNvPr>
          <p:cNvCxnSpPr/>
          <p:nvPr/>
        </p:nvCxnSpPr>
        <p:spPr>
          <a:xfrm flipH="1">
            <a:off x="9866956" y="1936335"/>
            <a:ext cx="10632" cy="1264453"/>
          </a:xfrm>
          <a:prstGeom prst="line">
            <a:avLst/>
          </a:prstGeom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D12EE0-7DF1-1C1F-33B2-E83F4279A576}"/>
              </a:ext>
            </a:extLst>
          </p:cNvPr>
          <p:cNvCxnSpPr/>
          <p:nvPr/>
        </p:nvCxnSpPr>
        <p:spPr>
          <a:xfrm flipH="1">
            <a:off x="9185194" y="2028026"/>
            <a:ext cx="11876" cy="125878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A38EC2-D394-4F57-3663-2B67F05DB3CB}"/>
              </a:ext>
            </a:extLst>
          </p:cNvPr>
          <p:cNvSpPr txBox="1"/>
          <p:nvPr/>
        </p:nvSpPr>
        <p:spPr>
          <a:xfrm>
            <a:off x="9160729" y="2670511"/>
            <a:ext cx="771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I- 0.59</a:t>
            </a:r>
          </a:p>
          <a:p>
            <a:r>
              <a:rPr lang="en-US" sz="1000" dirty="0">
                <a:solidFill>
                  <a:schemeClr val="accent6"/>
                </a:solidFill>
              </a:rPr>
              <a:t>Cl- 0.59</a:t>
            </a:r>
          </a:p>
          <a:p>
            <a:r>
              <a:rPr lang="en-US" sz="1000" dirty="0">
                <a:solidFill>
                  <a:schemeClr val="accent1"/>
                </a:solidFill>
              </a:rPr>
              <a:t>PF6- 0.74</a:t>
            </a:r>
          </a:p>
          <a:p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6F3B8-F860-3BC1-38B5-50CDC354501F}"/>
              </a:ext>
            </a:extLst>
          </p:cNvPr>
          <p:cNvSpPr txBox="1"/>
          <p:nvPr/>
        </p:nvSpPr>
        <p:spPr>
          <a:xfrm>
            <a:off x="9526233" y="800092"/>
            <a:ext cx="202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BC0894"/>
                </a:solidFill>
              </a:rPr>
              <a:t>Iodide (I-)</a:t>
            </a:r>
          </a:p>
          <a:p>
            <a:r>
              <a:rPr lang="en-US" sz="1200" dirty="0">
                <a:solidFill>
                  <a:srgbClr val="0070C0"/>
                </a:solidFill>
              </a:rPr>
              <a:t>Hexafluorophosphate (PF</a:t>
            </a:r>
            <a:r>
              <a:rPr lang="en-US" sz="1200" baseline="-25000" dirty="0">
                <a:solidFill>
                  <a:srgbClr val="0070C0"/>
                </a:solidFill>
              </a:rPr>
              <a:t>6</a:t>
            </a:r>
            <a:r>
              <a:rPr lang="en-US" sz="1200" baseline="30000" dirty="0">
                <a:solidFill>
                  <a:srgbClr val="0070C0"/>
                </a:solidFill>
              </a:rPr>
              <a:t>-</a:t>
            </a:r>
            <a:r>
              <a:rPr lang="en-US" sz="1200" dirty="0">
                <a:solidFill>
                  <a:srgbClr val="0070C0"/>
                </a:solidFill>
              </a:rPr>
              <a:t>)</a:t>
            </a:r>
          </a:p>
          <a:p>
            <a:r>
              <a:rPr lang="en-US" sz="1200" dirty="0">
                <a:solidFill>
                  <a:srgbClr val="00B050"/>
                </a:solidFill>
              </a:rPr>
              <a:t>Chloride (Cl-)</a:t>
            </a:r>
          </a:p>
        </p:txBody>
      </p:sp>
    </p:spTree>
    <p:extLst>
      <p:ext uri="{BB962C8B-B14F-4D97-AF65-F5344CB8AC3E}">
        <p14:creationId xmlns:p14="http://schemas.microsoft.com/office/powerpoint/2010/main" val="188996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PMF contact energies explained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PMF contact energies explained</dc:title>
  <dc:creator>Bryan Raubenolt</dc:creator>
  <cp:lastModifiedBy>Bryan Raubenolt</cp:lastModifiedBy>
  <cp:revision>1</cp:revision>
  <dcterms:created xsi:type="dcterms:W3CDTF">2023-12-03T19:20:25Z</dcterms:created>
  <dcterms:modified xsi:type="dcterms:W3CDTF">2023-12-03T19:21:34Z</dcterms:modified>
</cp:coreProperties>
</file>